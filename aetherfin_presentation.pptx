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800" b="1">
                <a:solidFill>
                  <a:srgbClr val="3B82F6"/>
                </a:solidFill>
                <a:latin typeface="Arial"/>
              </a:defRPr>
            </a:pPr>
            <a:r>
              <a:t>AETHERFIN GPU OPS</a:t>
            </a:r>
          </a:p>
          <a:p>
            <a:pPr>
              <a:spcAft>
                <a:spcPts val="3000"/>
              </a:spcAft>
              <a:defRPr sz="2200">
                <a:solidFill>
                  <a:srgbClr val="10B981"/>
                </a:solidFill>
                <a:latin typeface="Arial"/>
              </a:defRPr>
            </a:pPr>
            <a:r>
              <a:t>GenAI GPU FinOps &amp; Carbon Sustainability Platform</a:t>
            </a:r>
          </a:p>
          <a:p>
            <a:pPr>
              <a:defRPr sz="1400">
                <a:solidFill>
                  <a:srgbClr val="A1A1AA"/>
                </a:solidFill>
                <a:latin typeface="Arial"/>
              </a:defRPr>
            </a:pPr>
            <a:r>
              <a:t>Developed by: Banoth Srikanth</a:t>
            </a:r>
            <a:br/>
            <a:r>
              <a:t>Portfolio Deliverable for Enterprise Product Analyst &amp; Data Engineer Reviews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Core Value Proposition:</a:t>
            </a:r>
            <a:r>
              <a:rPr sz="1800">
                <a:solidFill>
                  <a:srgbClr val="A1A1AA"/>
                </a:solidFill>
                <a:latin typeface="Arial"/>
              </a:rPr>
              <a:t> Bridges the visibility gap between raw machine load telemetry and business-level finance/environmental indexes.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Total Compute Spend:</a:t>
            </a:r>
            <a:r>
              <a:rPr sz="1800">
                <a:solidFill>
                  <a:srgbClr val="A1A1AA"/>
                </a:solidFill>
                <a:latin typeface="Arial"/>
              </a:rPr>
              <a:t> Realized a baseline operational spend of $7,844.98 across 5 active cluster nodes.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GICP Cost Waste Penalty:</a:t>
            </a:r>
            <a:r>
              <a:rPr sz="1800">
                <a:solidFill>
                  <a:srgbClr val="A1A1AA"/>
                </a:solidFill>
                <a:latin typeface="Arial"/>
              </a:rPr>
              <a:t> Identified $5,073.76 (64.7%) in wasted spend on idle instances running under 15% load.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Compute Efficiency:</a:t>
            </a:r>
            <a:r>
              <a:rPr sz="1800">
                <a:solidFill>
                  <a:srgbClr val="A1A1AA"/>
                </a:solidFill>
                <a:latin typeface="Arial"/>
              </a:rPr>
              <a:t> Serving average of 2.23 tokens per Wh, benchmarked across model deployments.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Environmental Impact:</a:t>
            </a:r>
            <a:r>
              <a:rPr sz="1800">
                <a:solidFill>
                  <a:srgbClr val="A1A1AA"/>
                </a:solidFill>
                <a:latin typeface="Arial"/>
              </a:rPr>
              <a:t> Tracked 467.32 kg in Scope 3 carbon footprint emissions.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Skyrocketing Infrastructure Budgets:</a:t>
            </a:r>
            <a:r>
              <a:rPr sz="1800">
                <a:solidFill>
                  <a:srgbClr val="A1A1AA"/>
                </a:solidFill>
                <a:latin typeface="Arial"/>
              </a:rPr>
              <a:t> Generative AI model training and serving represent the largest modern enterprise IT expense.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The Visibility Vacuum:</a:t>
            </a:r>
            <a:r>
              <a:rPr sz="1800">
                <a:solidFill>
                  <a:srgbClr val="A1A1AA"/>
                </a:solidFill>
                <a:latin typeface="Arial"/>
              </a:rPr>
              <a:t> Standard server tools show CPU/Memory load but omit cost, SLA penalties, and carbon metrics.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Severe Resource Waste:</a:t>
            </a:r>
            <a:r>
              <a:rPr sz="1800">
                <a:solidFill>
                  <a:srgbClr val="A1A1AA"/>
                </a:solidFill>
                <a:latin typeface="Arial"/>
              </a:rPr>
              <a:t> Multi-million dollar GPU clusters remain reserved 24/7 with zero load outside working hours.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Regulatory Reporting Deficits:</a:t>
            </a:r>
            <a:r>
              <a:rPr sz="1800">
                <a:solidFill>
                  <a:srgbClr val="A1A1AA"/>
                </a:solidFill>
                <a:latin typeface="Arial"/>
              </a:rPr>
              <a:t> Compliance audits require tracking Scope 3 green IT emissions, but standard cloud metrics fail to correlate electricity grid coefficients.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Financial Leakage:</a:t>
            </a:r>
            <a:r>
              <a:rPr sz="1800">
                <a:solidFill>
                  <a:srgbClr val="A1A1AA"/>
                </a:solidFill>
                <a:latin typeface="Arial"/>
              </a:rPr>
              <a:t> Over 60% of GPU compute budgets are wasted on idle allocations.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Regulatory Compliance:</a:t>
            </a:r>
            <a:r>
              <a:rPr sz="1800">
                <a:solidFill>
                  <a:srgbClr val="A1A1AA"/>
                </a:solidFill>
                <a:latin typeface="Arial"/>
              </a:rPr>
              <a:t> Imminent Scope 3 environmental carbon footprint audits are legally required in global jurisdictions.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The Green IT Opportunity:</a:t>
            </a:r>
            <a:r>
              <a:rPr sz="1800">
                <a:solidFill>
                  <a:srgbClr val="A1A1AA"/>
                </a:solidFill>
                <a:latin typeface="Arial"/>
              </a:rPr>
              <a:t> Optimizing compute sizing and regional scheduling yields double benefits: lowering spend and carbon footprint.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Stakeholder Alignment:</a:t>
            </a:r>
            <a:r>
              <a:rPr sz="1800">
                <a:solidFill>
                  <a:srgbClr val="A1A1AA"/>
                </a:solidFill>
                <a:latin typeface="Arial"/>
              </a:rPr>
              <a:t> Designed to support Chief Financial Officers (CFOs), VP of Engineering, AI Product Managers, and Sustainability Officers.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Product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Continuous Intelligence:</a:t>
            </a:r>
            <a:r>
              <a:rPr sz="1800">
                <a:solidFill>
                  <a:srgbClr val="A1A1AA"/>
                </a:solidFill>
                <a:latin typeface="Arial"/>
              </a:rPr>
              <a:t> Convert low-level machine logs into high-level business analytics indexes.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Actionable Sizing Engine:</a:t>
            </a:r>
            <a:r>
              <a:rPr sz="1800">
                <a:solidFill>
                  <a:srgbClr val="A1A1AA"/>
                </a:solidFill>
                <a:latin typeface="Arial"/>
              </a:rPr>
              <a:t> Feed recommendation pipelines directly to container orchestration systems to shut down waste.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Risk-Balanced Simulation:</a:t>
            </a:r>
            <a:r>
              <a:rPr sz="1800">
                <a:solidFill>
                  <a:srgbClr val="A1A1AA"/>
                </a:solidFill>
                <a:latin typeface="Arial"/>
              </a:rPr>
              <a:t> Allow product managers to simulate cost and SLA performance changes before allocating clusters.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Immutable Audit Trails:</a:t>
            </a:r>
            <a:r>
              <a:rPr sz="1800">
                <a:solidFill>
                  <a:srgbClr val="A1A1AA"/>
                </a:solidFill>
                <a:latin typeface="Arial"/>
              </a:rPr>
              <a:t> Guarantee security compliance through JWT auth and immutable transaction auditing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Multi-Tier Design:</a:t>
            </a:r>
            <a:r>
              <a:rPr sz="1800">
                <a:solidFill>
                  <a:srgbClr val="A1A1AA"/>
                </a:solidFill>
                <a:latin typeface="Arial"/>
              </a:rPr>
              <a:t> Decoupled client, REST API server, and relational database tiers.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Frontend Client:</a:t>
            </a:r>
            <a:r>
              <a:rPr sz="1800">
                <a:solidFill>
                  <a:srgbClr val="A1A1AA"/>
                </a:solidFill>
                <a:latin typeface="Arial"/>
              </a:rPr>
              <a:t> React TypeScript application executing custom ECharts rendering inside a premium Glassmorphism Zinc dark UI.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FastAPI Backend:</a:t>
            </a:r>
            <a:r>
              <a:rPr sz="1800">
                <a:solidFill>
                  <a:srgbClr val="A1A1AA"/>
                </a:solidFill>
                <a:latin typeface="Arial"/>
              </a:rPr>
              <a:t> High-performance Python ASGI API routing, using NumPy for sliding-window mathematical Z-scores.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Database Layer:</a:t>
            </a:r>
            <a:r>
              <a:rPr sz="1800">
                <a:solidFill>
                  <a:srgbClr val="A1A1AA"/>
                </a:solidFill>
                <a:latin typeface="Arial"/>
              </a:rPr>
              <a:t> SQLAlchemy ORM layer abstracting SQLite (development) and MySQL (production) servers.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Orchestration Stacks:</a:t>
            </a:r>
            <a:r>
              <a:rPr sz="1800">
                <a:solidFill>
                  <a:srgbClr val="A1A1AA"/>
                </a:solidFill>
                <a:latin typeface="Arial"/>
              </a:rPr>
              <a:t> Dockerized compose profiles managing application services, database engines, and pgAdmin monitors.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Database Design &amp;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gpu_cluster_nodes:</a:t>
            </a:r>
            <a:r>
              <a:rPr sz="1800">
                <a:solidFill>
                  <a:srgbClr val="A1A1AA"/>
                </a:solidFill>
                <a:latin typeface="Arial"/>
              </a:rPr>
              <a:t> Node-level registry tracking provider (AWS/GCP/On-Prem), region, instance type, hourly cost, and grid carbon intensity.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model_deployments:</a:t>
            </a:r>
            <a:r>
              <a:rPr sz="1800">
                <a:solidFill>
                  <a:srgbClr val="A1A1AA"/>
                </a:solidFill>
                <a:latin typeface="Arial"/>
              </a:rPr>
              <a:t> Active serving configurations mapping allocated GPUs, latency SLAs, and target TPS thresholds.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gpu_utilization_logs:</a:t>
            </a:r>
            <a:r>
              <a:rPr sz="1800">
                <a:solidFill>
                  <a:srgbClr val="A1A1AA"/>
                </a:solidFill>
                <a:latin typeface="Arial"/>
              </a:rPr>
              <a:t> Telemetry logging hourly average GPU loads and actual power draw in Watts.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carbon_emissions_logs:</a:t>
            </a:r>
            <a:r>
              <a:rPr sz="1800">
                <a:solidFill>
                  <a:srgbClr val="A1A1AA"/>
                </a:solidFill>
                <a:latin typeface="Arial"/>
              </a:rPr>
              <a:t> Correlating power draws to regional grid intensity to log emissions hourly.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inference_request_logs:</a:t>
            </a:r>
            <a:r>
              <a:rPr sz="1800">
                <a:solidFill>
                  <a:srgbClr val="A1A1AA"/>
                </a:solidFill>
                <a:latin typeface="Arial"/>
              </a:rPr>
              <a:t> Transaction logging query parameters, token numbers, latency, and SLA violation status.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Frontend:</a:t>
            </a:r>
            <a:r>
              <a:rPr sz="1800">
                <a:solidFill>
                  <a:srgbClr val="A1A1AA"/>
                </a:solidFill>
                <a:latin typeface="Arial"/>
              </a:rPr>
              <a:t> React 18, TypeScript, Vite, ECharts-for-React, Lucide icons, and custom CSS.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Backend:</a:t>
            </a:r>
            <a:r>
              <a:rPr sz="1800">
                <a:solidFill>
                  <a:srgbClr val="A1A1AA"/>
                </a:solidFill>
                <a:latin typeface="Arial"/>
              </a:rPr>
              <a:t> Python 3.11+, FastAPI, Uvicorn, SQLAlchemy, PyJWT, Cryptography, and NumPy.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Database:</a:t>
            </a:r>
            <a:r>
              <a:rPr sz="1800">
                <a:solidFill>
                  <a:srgbClr val="A1A1AA"/>
                </a:solidFill>
                <a:latin typeface="Arial"/>
              </a:rPr>
              <a:t> MySQL (Local/Production), SQLite (Testing), PyMySQL, and PostgreSQL support.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Deployment &amp; DevOps:</a:t>
            </a:r>
            <a:r>
              <a:rPr sz="1800">
                <a:solidFill>
                  <a:srgbClr val="A1A1AA"/>
                </a:solidFill>
                <a:latin typeface="Arial"/>
              </a:rPr>
              <a:t> Docker, Docker Compose, Git repository source control, and Vercel hosting integration.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Innovative KPI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GPU Idle Cost Penalty (GICP):</a:t>
            </a:r>
            <a:r>
              <a:rPr sz="1800">
                <a:solidFill>
                  <a:srgbClr val="A1A1AA"/>
                </a:solidFill>
                <a:latin typeface="Arial"/>
              </a:rPr>
              <a:t> Translates technical load metrics into dollar waste assessments.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Model Compute Efficiency Score (MCES):</a:t>
            </a:r>
            <a:r>
              <a:rPr sz="1800">
                <a:solidFill>
                  <a:srgbClr val="A1A1AA"/>
                </a:solidFill>
                <a:latin typeface="Arial"/>
              </a:rPr>
              <a:t> Tracks token output density relative to physical energy consumption.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SLA Violation Exposure Index (SLA-VEI):</a:t>
            </a:r>
            <a:r>
              <a:rPr sz="1800">
                <a:solidFill>
                  <a:srgbClr val="A1A1AA"/>
                </a:solidFill>
                <a:latin typeface="Arial"/>
              </a:rPr>
              <a:t> Measures user latency breaches, weighting extreme delays non-linearly.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Carbon Offset ROI (COROI):</a:t>
            </a:r>
            <a:r>
              <a:rPr sz="1800">
                <a:solidFill>
                  <a:srgbClr val="A1A1AA"/>
                </a:solidFill>
                <a:latin typeface="Arial"/>
              </a:rPr>
              <a:t> Correlates financial savings of regional rerouting actions against offset expenses.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GPU Idle Cost Penalty (GICP)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Formula:</a:t>
            </a:r>
            <a:r>
              <a:rPr sz="1800">
                <a:solidFill>
                  <a:srgbClr val="A1A1AA"/>
                </a:solidFill>
                <a:latin typeface="Arial"/>
              </a:rPr>
              <a:t> GICP = sum(Idle Hours * Hourly Cost) / Total Spend * 100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Threshold Definition:</a:t>
            </a:r>
            <a:r>
              <a:rPr sz="1800">
                <a:solidFill>
                  <a:srgbClr val="A1A1AA"/>
                </a:solidFill>
                <a:latin typeface="Arial"/>
              </a:rPr>
              <a:t> Tracks hours where a node is active but average GPU load stays under 15%.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Business Cost:</a:t>
            </a:r>
            <a:r>
              <a:rPr sz="1800">
                <a:solidFill>
                  <a:srgbClr val="A1A1AA"/>
                </a:solidFill>
                <a:latin typeface="Arial"/>
              </a:rPr>
              <a:t> In the audited trial, $5,073.76 out of $7,844.98 was wasted on idle capacity.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Outcome Action:</a:t>
            </a:r>
            <a:r>
              <a:rPr sz="1800">
                <a:solidFill>
                  <a:srgbClr val="A1A1AA"/>
                </a:solidFill>
                <a:latin typeface="Arial"/>
              </a:rPr>
              <a:t> Identifies exact instances suitable for decommissioning or dynamic scale-down.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Model Compute Efficiency Score (MCES)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Formula:</a:t>
            </a:r>
            <a:r>
              <a:rPr sz="1800">
                <a:solidFill>
                  <a:srgbClr val="A1A1AA"/>
                </a:solidFill>
                <a:latin typeface="Arial"/>
              </a:rPr>
              <a:t> MCES = (Prompt Tokens + Completion Tokens) / sum(Power Draw in Watts * 1 Hour)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Standardization Value:</a:t>
            </a:r>
            <a:r>
              <a:rPr sz="1800">
                <a:solidFill>
                  <a:srgbClr val="A1A1AA"/>
                </a:solidFill>
                <a:latin typeface="Arial"/>
              </a:rPr>
              <a:t> Allows C-suite comparison of model architectures on different hardware types.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Hardware Insights:</a:t>
            </a:r>
            <a:r>
              <a:rPr sz="1800">
                <a:solidFill>
                  <a:srgbClr val="A1A1AA"/>
                </a:solidFill>
                <a:latin typeface="Arial"/>
              </a:rPr>
              <a:t> Llama-3-8B on GCP L4 nodes achieved 8.42 tokens/Wh, compared to 1.12 tokens/Wh for Llama-3-70B on H100s.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Outcome Action:</a:t>
            </a:r>
            <a:r>
              <a:rPr sz="1800">
                <a:solidFill>
                  <a:srgbClr val="A1A1AA"/>
                </a:solidFill>
                <a:latin typeface="Arial"/>
              </a:rPr>
              <a:t> Identifies candidate models for right-sizing or quantization.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SLA Violation Exposure Index (SLA-VEI)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Formula:</a:t>
            </a:r>
            <a:r>
              <a:rPr sz="1800">
                <a:solidFill>
                  <a:srgbClr val="A1A1AA"/>
                </a:solidFill>
                <a:latin typeface="Arial"/>
              </a:rPr>
              <a:t> SLA-VEI = sum(max(0, (Actual Latency - Target Latency) / Target Latency)) / Total Requests * 100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The Severity Weighting:</a:t>
            </a:r>
            <a:r>
              <a:rPr sz="1800">
                <a:solidFill>
                  <a:srgbClr val="A1A1AA"/>
                </a:solidFill>
                <a:latin typeface="Arial"/>
              </a:rPr>
              <a:t> Counts of violations do not capture user frustration; SLA-VEI weights delays exponentially.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Baseline Score:</a:t>
            </a:r>
            <a:r>
              <a:rPr sz="1800">
                <a:solidFill>
                  <a:srgbClr val="A1A1AA"/>
                </a:solidFill>
                <a:latin typeface="Arial"/>
              </a:rPr>
              <a:t> Current baseline score is 2.89, driven by peak diurnal traffic queuing delays.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Outcome Action:</a:t>
            </a:r>
            <a:r>
              <a:rPr sz="1800">
                <a:solidFill>
                  <a:srgbClr val="A1A1AA"/>
                </a:solidFill>
                <a:latin typeface="Arial"/>
              </a:rPr>
              <a:t> Signals when cost-cutting measures threaten customer retention.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Carbon Offset ROI (COROI)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Index Concept:</a:t>
            </a:r>
            <a:r>
              <a:rPr sz="1800">
                <a:solidFill>
                  <a:srgbClr val="A1A1AA"/>
                </a:solidFill>
                <a:latin typeface="Arial"/>
              </a:rPr>
              <a:t> Evaluates the cost efficiency of shifting workloads to low-intensity regional grids.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Grid Differences:</a:t>
            </a:r>
            <a:r>
              <a:rPr sz="1800">
                <a:solidFill>
                  <a:srgbClr val="A1A1AA"/>
                </a:solidFill>
                <a:latin typeface="Arial"/>
              </a:rPr>
              <a:t> Compares On-Premises coal grid (650g CO2/kWh) to GCP Europe-West1 nuclear grid (45g CO2/kWh).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The Trade-Off:</a:t>
            </a:r>
            <a:r>
              <a:rPr sz="1800">
                <a:solidFill>
                  <a:srgbClr val="A1A1AA"/>
                </a:solidFill>
                <a:latin typeface="Arial"/>
              </a:rPr>
              <a:t> Carbon routing may increase network latencies but completely eliminates carbon penalty offsets.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Outcome Action:</a:t>
            </a:r>
            <a:r>
              <a:rPr sz="1800">
                <a:solidFill>
                  <a:srgbClr val="A1A1AA"/>
                </a:solidFill>
                <a:latin typeface="Arial"/>
              </a:rPr>
              <a:t> Scheduler routes batch jobs to clean regions during off-peak times.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Executive &amp; Dashboard Previews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Dashboard (sizing.png):</a:t>
            </a:r>
            <a:r>
              <a:rPr sz="1300">
                <a:solidFill>
                  <a:srgbClr val="A1A1AA"/>
                </a:solidFill>
                <a:latin typeface="Arial"/>
              </a:rPr>
              <a:t> Features the high-level KPI overview panels showing spend and carbon footprint details.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Compute Activity:</a:t>
            </a:r>
            <a:r>
              <a:rPr sz="1300">
                <a:solidFill>
                  <a:srgbClr val="A1A1AA"/>
                </a:solidFill>
                <a:latin typeface="Arial"/>
              </a:rPr>
              <a:t> Renders the active 48-hour timeline detailing node utilization and load fluctuations.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Node Inventory:</a:t>
            </a:r>
            <a:r>
              <a:rPr sz="1300">
                <a:solidFill>
                  <a:srgbClr val="A1A1AA"/>
                </a:solidFill>
                <a:latin typeface="Arial"/>
              </a:rPr>
              <a:t> Renders active database logs of multi-cloud allocations.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One-Click Exports:</a:t>
            </a:r>
            <a:r>
              <a:rPr sz="1300">
                <a:solidFill>
                  <a:srgbClr val="A1A1AA"/>
                </a:solidFill>
                <a:latin typeface="Arial"/>
              </a:rPr>
              <a:t> Stream summaries and audit trails directly to CSV or formatted text reports.</a:t>
            </a:r>
          </a:p>
        </p:txBody>
      </p:sp>
      <p:pic>
        <p:nvPicPr>
          <p:cNvPr id="4" name="Picture 3" descr="si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2321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Trend &amp; Cohort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Interactive Sidebar (drilldown.png):</a:t>
            </a:r>
            <a:r>
              <a:rPr sz="1300">
                <a:solidFill>
                  <a:srgbClr val="A1A1AA"/>
                </a:solidFill>
                <a:latin typeface="Arial"/>
              </a:rPr>
              <a:t> Opens node-level financial details dynamically on click.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Visual Sizing Factors:</a:t>
            </a:r>
            <a:r>
              <a:rPr sz="1300">
                <a:solidFill>
                  <a:srgbClr val="A1A1AA"/>
                </a:solidFill>
                <a:latin typeface="Arial"/>
              </a:rPr>
              <a:t> CFOs can drill down to see exact provider and regional billing components.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Multi-Range Filters:</a:t>
            </a:r>
            <a:r>
              <a:rPr sz="1300">
                <a:solidFill>
                  <a:srgbClr val="A1A1AA"/>
                </a:solidFill>
                <a:latin typeface="Arial"/>
              </a:rPr>
              <a:t> Supports 7-day, 30-day, and custom timeline aggregation windows.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Cohort Analysis:</a:t>
            </a:r>
            <a:r>
              <a:rPr sz="1300">
                <a:solidFill>
                  <a:srgbClr val="A1A1AA"/>
                </a:solidFill>
                <a:latin typeface="Arial"/>
              </a:rPr>
              <a:t> Compares model execution profiles to pinpoint underperforming instances.</a:t>
            </a:r>
          </a:p>
        </p:txBody>
      </p:sp>
      <p:pic>
        <p:nvPicPr>
          <p:cNvPr id="4" name="Picture 3" descr="drill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2321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Z-Score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Outliers Graph (anomalies.png):</a:t>
            </a:r>
            <a:r>
              <a:rPr sz="1300">
                <a:solidFill>
                  <a:srgbClr val="A1A1AA"/>
                </a:solidFill>
                <a:latin typeface="Arial"/>
              </a:rPr>
              <a:t> Renders Z-score statistical outlier plots tracking latency spikes.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Waste Alerts:</a:t>
            </a:r>
            <a:r>
              <a:rPr sz="1300">
                <a:solidFill>
                  <a:srgbClr val="A1A1AA"/>
                </a:solidFill>
                <a:latin typeface="Arial"/>
              </a:rPr>
              <a:t> Automatically flags nodes operating under 10% average load for 12+ consecutive hours.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Root Cause Diagnostics:</a:t>
            </a:r>
            <a:r>
              <a:rPr sz="1300">
                <a:solidFill>
                  <a:srgbClr val="A1A1AA"/>
                </a:solidFill>
                <a:latin typeface="Arial"/>
              </a:rPr>
              <a:t> Automatically pairs anomalies with technical diagnoses and routing solutions.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Dynamic Baselines:</a:t>
            </a:r>
            <a:r>
              <a:rPr sz="1300">
                <a:solidFill>
                  <a:srgbClr val="A1A1AA"/>
                </a:solidFill>
                <a:latin typeface="Arial"/>
              </a:rPr>
              <a:t> Avoids static thresholds by computing sliding-window mean and standard deviations.</a:t>
            </a:r>
          </a:p>
        </p:txBody>
      </p:sp>
      <p:pic>
        <p:nvPicPr>
          <p:cNvPr id="4" name="Picture 3" descr="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2321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AI FinOps Advisor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Conversational Interface (casestudy.png):</a:t>
            </a:r>
            <a:r>
              <a:rPr sz="1300">
                <a:solidFill>
                  <a:srgbClr val="A1A1AA"/>
                </a:solidFill>
                <a:latin typeface="Arial"/>
              </a:rPr>
              <a:t> Provides context-enriched advisory panels displaying strategic plans.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Direct Answers:</a:t>
            </a:r>
            <a:r>
              <a:rPr sz="1300">
                <a:solidFill>
                  <a:srgbClr val="A1A1AA"/>
                </a:solidFill>
                <a:latin typeface="Arial"/>
              </a:rPr>
              <a:t> Responds to inquiries like 'How can I reduce costs by 20%?' with detailed, multi-step actions.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Fallback Rules:</a:t>
            </a:r>
            <a:r>
              <a:rPr sz="1300">
                <a:solidFill>
                  <a:srgbClr val="A1A1AA"/>
                </a:solidFill>
                <a:latin typeface="Arial"/>
              </a:rPr>
              <a:t> Implements rule-based fallback logic to analyze local database statistics if the LLM API is offline.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Action Chips:</a:t>
            </a:r>
            <a:r>
              <a:rPr sz="1300">
                <a:solidFill>
                  <a:srgbClr val="A1A1AA"/>
                </a:solidFill>
                <a:latin typeface="Arial"/>
              </a:rPr>
              <a:t> Interactive cards allowing users to click common queries instantly.</a:t>
            </a:r>
          </a:p>
        </p:txBody>
      </p:sp>
      <p:pic>
        <p:nvPicPr>
          <p:cNvPr id="4" name="Picture 3" descr="case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2321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What-If Sizing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Predictive Sizing Controls:</a:t>
            </a:r>
            <a:r>
              <a:rPr sz="1800">
                <a:solidFill>
                  <a:srgbClr val="A1A1AA"/>
                </a:solidFill>
                <a:latin typeface="Arial"/>
              </a:rPr>
              <a:t> Adjust scale multiplier, daily operating hours, and traffic concurrency.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Routing Strategies:</a:t>
            </a:r>
            <a:r>
              <a:rPr sz="1800">
                <a:solidFill>
                  <a:srgbClr val="A1A1AA"/>
                </a:solidFill>
                <a:latin typeface="Arial"/>
              </a:rPr>
              <a:t> Toggle default, Cost-Optimized (cheapest), and Carbon-Optimized (cleanest) modes.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Trade-Off Modeling:</a:t>
            </a:r>
            <a:r>
              <a:rPr sz="1800">
                <a:solidFill>
                  <a:srgbClr val="A1A1AA"/>
                </a:solidFill>
                <a:latin typeface="Arial"/>
              </a:rPr>
              <a:t> Simulates how cost-cutting changes affect SLA violation risks.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Real-Time Previews:</a:t>
            </a:r>
            <a:r>
              <a:rPr sz="1800">
                <a:solidFill>
                  <a:srgbClr val="A1A1AA"/>
                </a:solidFill>
                <a:latin typeface="Arial"/>
              </a:rPr>
              <a:t> Computes projected costs, carbon footprints, and net savings dynamically.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Performance &amp; Load Audits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Optimization Focus:</a:t>
            </a:r>
            <a:r>
              <a:rPr sz="1800">
                <a:solidFill>
                  <a:srgbClr val="A1A1AA"/>
                </a:solidFill>
                <a:latin typeface="Arial"/>
              </a:rPr>
              <a:t> Resolved DB query loops by pre-fetching deployment records into memory dictionaries.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100 Concurrency:</a:t>
            </a:r>
            <a:r>
              <a:rPr sz="1800">
                <a:solidFill>
                  <a:srgbClr val="A1A1AA"/>
                </a:solidFill>
                <a:latin typeface="Arial"/>
              </a:rPr>
              <a:t> 100% Success | P50 latency 804.1ms | Peak RAM 93.9 MB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500 Concurrency:</a:t>
            </a:r>
            <a:r>
              <a:rPr sz="1800">
                <a:solidFill>
                  <a:srgbClr val="A1A1AA"/>
                </a:solidFill>
                <a:latin typeface="Arial"/>
              </a:rPr>
              <a:t> 100% Success | P50 latency 886.2ms | Peak RAM 95.3 MB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1,000 Concurrency:</a:t>
            </a:r>
            <a:r>
              <a:rPr sz="1800">
                <a:solidFill>
                  <a:srgbClr val="A1A1AA"/>
                </a:solidFill>
                <a:latin typeface="Arial"/>
              </a:rPr>
              <a:t> 100% Success | P50 latency 967.6ms | Peak RAM 96.9 MB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Security &amp; Compliance Audits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Audit Log Viewer (admin_logs.png):</a:t>
            </a:r>
            <a:r>
              <a:rPr sz="1300">
                <a:solidFill>
                  <a:srgbClr val="A1A1AA"/>
                </a:solidFill>
                <a:latin typeface="Arial"/>
              </a:rPr>
              <a:t> Renders secure table logging details of all system modifications.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Access Protection:</a:t>
            </a:r>
            <a:r>
              <a:rPr sz="1300">
                <a:solidFill>
                  <a:srgbClr val="A1A1AA"/>
                </a:solidFill>
                <a:latin typeface="Arial"/>
              </a:rPr>
              <a:t> Bearer JWT validation shields all secure API routes and telemetry reports.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Type Safety Validation:</a:t>
            </a:r>
            <a:r>
              <a:rPr sz="1300">
                <a:solidFill>
                  <a:srgbClr val="A1A1AA"/>
                </a:solidFill>
                <a:latin typeface="Arial"/>
              </a:rPr>
              <a:t> Pydantic schemas filter and reject malformed JSON payloads (HTTP 422).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SQL Injection Prevention:</a:t>
            </a:r>
            <a:r>
              <a:rPr sz="1300">
                <a:solidFill>
                  <a:srgbClr val="A1A1AA"/>
                </a:solidFill>
                <a:latin typeface="Arial"/>
              </a:rPr>
              <a:t> Parameterized queries in SQLAlchemy ORM eliminate injection vectors.</a:t>
            </a:r>
          </a:p>
        </p:txBody>
      </p:sp>
      <p:pic>
        <p:nvPicPr>
          <p:cNvPr id="4" name="Picture 3" descr="admin_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2321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Business Impact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Double-Bottom Line Value:</a:t>
            </a:r>
            <a:r>
              <a:rPr sz="1800">
                <a:solidFill>
                  <a:srgbClr val="A1A1AA"/>
                </a:solidFill>
                <a:latin typeface="Arial"/>
              </a:rPr>
              <a:t> Shows that optimizing compute resources reduces spend and carbon emissions simultaneously.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Cost Savings:</a:t>
            </a:r>
            <a:r>
              <a:rPr sz="1800">
                <a:solidFill>
                  <a:srgbClr val="A1A1AA"/>
                </a:solidFill>
                <a:latin typeface="Arial"/>
              </a:rPr>
              <a:t> Cut weekly cluster run-rates by 50% through smart sizing.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Carbon Reduction:</a:t>
            </a:r>
            <a:r>
              <a:rPr sz="1800">
                <a:solidFill>
                  <a:srgbClr val="A1A1AA"/>
                </a:solidFill>
                <a:latin typeface="Arial"/>
              </a:rPr>
              <a:t> Achieved a 73% drop in Scope 3 greenhouse gas footprints.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Enterprise Readiness:</a:t>
            </a:r>
            <a:r>
              <a:rPr sz="1800">
                <a:solidFill>
                  <a:srgbClr val="A1A1AA"/>
                </a:solidFill>
                <a:latin typeface="Arial"/>
              </a:rPr>
              <a:t> Audit trails and RBAC controls satisfy compliance audits.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Cost Optimization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Terminating Idle Node:</a:t>
            </a:r>
            <a:r>
              <a:rPr sz="1800">
                <a:solidFill>
                  <a:srgbClr val="A1A1AA"/>
                </a:solidFill>
                <a:latin typeface="Arial"/>
              </a:rPr>
              <a:t> Decommissioning `aws-us-east-1-a100-idle` saves $2,284.80 / week.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Off-Peak Auto-Scaling:</a:t>
            </a:r>
            <a:r>
              <a:rPr sz="1800">
                <a:solidFill>
                  <a:srgbClr val="A1A1AA"/>
                </a:solidFill>
                <a:latin typeface="Arial"/>
              </a:rPr>
              <a:t> Downsizing H100 counts by 50% between 11 PM and 6 AM saves $478.24 / week.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Model Right-Sizing:</a:t>
            </a:r>
            <a:r>
              <a:rPr sz="1800">
                <a:solidFill>
                  <a:srgbClr val="A1A1AA"/>
                </a:solidFill>
                <a:latin typeface="Arial"/>
              </a:rPr>
              <a:t> Migrating Mixtral from GCP A100 to GCP L4 instances saves $806.40 / week.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Net Sizing Business Outcome:</a:t>
            </a:r>
            <a:r>
              <a:rPr sz="1800">
                <a:solidFill>
                  <a:srgbClr val="A1A1AA"/>
                </a:solidFill>
                <a:latin typeface="Arial"/>
              </a:rPr>
              <a:t> Delivers $3,921.58 / week ($16,980 monthly savings, 50.0% cost reduction).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Environmental Sustainability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Grid Schedulers:</a:t>
            </a:r>
            <a:r>
              <a:rPr sz="1800">
                <a:solidFill>
                  <a:srgbClr val="A1A1AA"/>
                </a:solidFill>
                <a:latin typeface="Arial"/>
              </a:rPr>
              <a:t> Batch jobs are automatically routed to cleaner regional grids during off-peak hours.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Stable-Diffusion XL Migration:</a:t>
            </a:r>
            <a:r>
              <a:rPr sz="1800">
                <a:solidFill>
                  <a:srgbClr val="A1A1AA"/>
                </a:solidFill>
                <a:latin typeface="Arial"/>
              </a:rPr>
              <a:t> Shifting image batch jobs to GCP Europe West-1 wind grid saves 343 kg CO2 / week.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Net Environmental Sizing:</a:t>
            </a:r>
            <a:r>
              <a:rPr sz="1800">
                <a:solidFill>
                  <a:srgbClr val="A1A1AA"/>
                </a:solidFill>
                <a:latin typeface="Arial"/>
              </a:rPr>
              <a:t> Lowers weekly emissions from 467.3 kg CO2 to 124.2 kg CO2 (73.4% reduction).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Offsets Optimization:</a:t>
            </a:r>
            <a:r>
              <a:rPr sz="1800">
                <a:solidFill>
                  <a:srgbClr val="A1A1AA"/>
                </a:solidFill>
                <a:latin typeface="Arial"/>
              </a:rPr>
              <a:t> Avoids $356 / month in carbon offsets, accelerating ESG timeline targets.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Autonomous Cloud Scaling:</a:t>
            </a:r>
            <a:r>
              <a:rPr sz="1800">
                <a:solidFill>
                  <a:srgbClr val="A1A1AA"/>
                </a:solidFill>
                <a:latin typeface="Arial"/>
              </a:rPr>
              <a:t> Connect the sizing API to AWS/GCP dynamic node groups to scale pools directly.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Predictive Load Forecasting:</a:t>
            </a:r>
            <a:r>
              <a:rPr sz="1800">
                <a:solidFill>
                  <a:srgbClr val="A1A1AA"/>
                </a:solidFill>
                <a:latin typeface="Arial"/>
              </a:rPr>
              <a:t> Implement regression models to forecast peak traffic and pre-allocate spot instances.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Direct Offset Marketplaces:</a:t>
            </a:r>
            <a:r>
              <a:rPr sz="1800">
                <a:solidFill>
                  <a:srgbClr val="A1A1AA"/>
                </a:solidFill>
                <a:latin typeface="Arial"/>
              </a:rPr>
              <a:t> Integrate carbon credit purchasing APIs directly into the management panel.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FAFAFA"/>
                </a:solidFill>
                <a:latin typeface="Arial"/>
              </a:rPr>
              <a:t>Multi-Tenant SaaS:</a:t>
            </a:r>
            <a:r>
              <a:rPr sz="1800">
                <a:solidFill>
                  <a:srgbClr val="A1A1AA"/>
                </a:solidFill>
                <a:latin typeface="Arial"/>
              </a:rPr>
              <a:t> Add organization isolation schemas to serve multiple enterprise accounts.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Recruiter-Ready Platform:</a:t>
            </a:r>
            <a:r>
              <a:rPr sz="1300">
                <a:solidFill>
                  <a:srgbClr val="A1A1AA"/>
                </a:solidFill>
                <a:latin typeface="Arial"/>
              </a:rPr>
              <a:t> Successfully bridges GenAI compute operations, financial auditing, and carbon ESG metrics.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Designed UI (login.png):</a:t>
            </a:r>
            <a:r>
              <a:rPr sz="1300">
                <a:solidFill>
                  <a:srgbClr val="A1A1AA"/>
                </a:solidFill>
                <a:latin typeface="Arial"/>
              </a:rPr>
              <a:t> Offers secure credentials authentication layout using Zinc dark themes.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Production-Grade Performance:</a:t>
            </a:r>
            <a:r>
              <a:rPr sz="1300">
                <a:solidFill>
                  <a:srgbClr val="A1A1AA"/>
                </a:solidFill>
                <a:latin typeface="Arial"/>
              </a:rPr>
              <a:t> Validated at 1,000 requests concurrency under 100% success rates.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AFAFA"/>
                </a:solidFill>
                <a:latin typeface="Arial"/>
              </a:rPr>
              <a:t>Advanced Competency:</a:t>
            </a:r>
            <a:r>
              <a:rPr sz="1300">
                <a:solidFill>
                  <a:srgbClr val="A1A1AA"/>
                </a:solidFill>
                <a:latin typeface="Arial"/>
              </a:rPr>
              <a:t> Demonstrates full capability in Product Analytics, Data Engineering, and Security.</a:t>
            </a:r>
          </a:p>
        </p:txBody>
      </p:sp>
      <p:pic>
        <p:nvPicPr>
          <p:cNvPr id="4" name="Picture 3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232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